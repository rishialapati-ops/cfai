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10"/>
  </p:notesMasterIdLst>
  <p:sldIdLst>
    <p:sldId id="354" r:id="rId5"/>
    <p:sldId id="1268" r:id="rId6"/>
    <p:sldId id="1254" r:id="rId7"/>
    <p:sldId id="1255" r:id="rId8"/>
    <p:sldId id="1256"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6EAC6AEE-A87F-40DF-B371-55D5F274732F}">
          <p14:sldIdLst>
            <p14:sldId id="354"/>
            <p14:sldId id="1268"/>
            <p14:sldId id="1254"/>
            <p14:sldId id="1255"/>
            <p14:sldId id="1256"/>
          </p14:sldIdLst>
        </p14:section>
      </p14:sectionLst>
    </p:ex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84845"/>
    <a:srgbClr val="E3293B"/>
    <a:srgbClr val="FF9900"/>
    <a:srgbClr val="FAD2D2"/>
    <a:srgbClr val="F89E4C"/>
    <a:srgbClr val="A81E24"/>
    <a:srgbClr val="FFF2CC"/>
    <a:srgbClr val="CF2F33"/>
    <a:srgbClr val="BA2532"/>
    <a:srgbClr val="FFFCF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6102" autoAdjust="0"/>
    <p:restoredTop sz="94689"/>
  </p:normalViewPr>
  <p:slideViewPr>
    <p:cSldViewPr snapToGrid="0">
      <p:cViewPr varScale="1">
        <p:scale>
          <a:sx n="74" d="100"/>
          <a:sy n="74" d="100"/>
        </p:scale>
        <p:origin x="72" y="15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presProps" Target="presProps.xml"/><Relationship Id="rId5" Type="http://schemas.openxmlformats.org/officeDocument/2006/relationships/slide" Target="slides/slide1.xml"/><Relationship Id="rId10"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ADD66ED-011C-444B-AF08-9B316B070C56}" type="datetimeFigureOut">
              <a:rPr lang="en-US" smtClean="0"/>
              <a:pPr/>
              <a:t>6/16/2026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E4ADD7-897F-4F47-A317-DE24AB827DD3}" type="slidenum">
              <a:rPr lang="en-US" smtClean="0"/>
              <a:pPr/>
              <a:t>‹#›</a:t>
            </a:fld>
            <a:endParaRPr lang="en-US"/>
          </a:p>
        </p:txBody>
      </p:sp>
    </p:spTree>
    <p:extLst>
      <p:ext uri="{BB962C8B-B14F-4D97-AF65-F5344CB8AC3E}">
        <p14:creationId xmlns:p14="http://schemas.microsoft.com/office/powerpoint/2010/main" val="39866589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62" name="Google Shape;462;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244303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6/16/2026</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6741656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6/16/2026</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8312422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6/16/2026</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5789190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6/16/2026</a:t>
            </a:fld>
            <a:endParaRPr lang="en-US">
              <a:solidFill>
                <a:prstClr val="black">
                  <a:tint val="75000"/>
                </a:prstClr>
              </a:solidFill>
            </a:endParaRPr>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542919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6/16/2026</a:t>
            </a:fld>
            <a:endParaRPr lang="en-US">
              <a:solidFill>
                <a:prstClr val="black">
                  <a:tint val="75000"/>
                </a:prstClr>
              </a:solidFill>
            </a:endParaRPr>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6339771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6/16/2026</a:t>
            </a:fld>
            <a:endParaRPr lang="en-US">
              <a:solidFill>
                <a:prstClr val="black">
                  <a:tint val="75000"/>
                </a:prstClr>
              </a:solidFill>
            </a:endParaRPr>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4024589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6/16/2026</a:t>
            </a:fld>
            <a:endParaRPr lang="en-US">
              <a:solidFill>
                <a:prstClr val="black">
                  <a:tint val="75000"/>
                </a:prstClr>
              </a:solidFill>
            </a:endParaRPr>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0399709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6/16/2026</a:t>
            </a:fld>
            <a:endParaRPr lang="en-US">
              <a:solidFill>
                <a:prstClr val="black">
                  <a:tint val="75000"/>
                </a:prstClr>
              </a:solidFill>
            </a:endParaRPr>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38835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6/16/2026</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365154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838200" y="365125"/>
            <a:ext cx="10515600" cy="58118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6/16/2026</a:t>
            </a:fld>
            <a:endParaRPr lang="en-US">
              <a:solidFill>
                <a:prstClr val="black">
                  <a:tint val="75000"/>
                </a:prstClr>
              </a:solidFill>
            </a:endParaRPr>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9176286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Content">
  <p:cSld name="1_Title and Content">
    <p:spTree>
      <p:nvGrpSpPr>
        <p:cNvPr id="1" name="Shape 48"/>
        <p:cNvGrpSpPr/>
        <p:nvPr/>
      </p:nvGrpSpPr>
      <p:grpSpPr>
        <a:xfrm>
          <a:off x="0" y="0"/>
          <a:ext cx="0" cy="0"/>
          <a:chOff x="0" y="0"/>
          <a:chExt cx="0" cy="0"/>
        </a:xfrm>
      </p:grpSpPr>
      <p:sp>
        <p:nvSpPr>
          <p:cNvPr id="49" name="Google Shape;49;p47"/>
          <p:cNvSpPr>
            <a:spLocks noGrp="1"/>
          </p:cNvSpPr>
          <p:nvPr>
            <p:ph type="pic" idx="2"/>
          </p:nvPr>
        </p:nvSpPr>
        <p:spPr>
          <a:xfrm>
            <a:off x="0" y="0"/>
            <a:ext cx="5467350" cy="598798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val="33789292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4">
            <a:lumMod val="20000"/>
            <a:lumOff val="80000"/>
            <a:alpha val="20747"/>
          </a:schemeClr>
        </a:solidFill>
        <a:effectLst/>
      </p:bgPr>
    </p:bg>
    <p:spTree>
      <p:nvGrpSpPr>
        <p:cNvPr id="1" name=""/>
        <p:cNvGrpSpPr/>
        <p:nvPr/>
      </p:nvGrpSpPr>
      <p:grpSpPr>
        <a:xfrm>
          <a:off x="0" y="0"/>
          <a:ext cx="0" cy="0"/>
          <a:chOff x="0" y="0"/>
          <a:chExt cx="0" cy="0"/>
        </a:xfrm>
      </p:grpSpPr>
      <p:pic>
        <p:nvPicPr>
          <p:cNvPr id="11" name="Picture 10" descr="Background pattern&#10;&#10;Description automatically generated">
            <a:extLst>
              <a:ext uri="{FF2B5EF4-FFF2-40B4-BE49-F238E27FC236}">
                <a16:creationId xmlns:a16="http://schemas.microsoft.com/office/drawing/2014/main" id="{2F4508AD-1BA8-6D49-AD89-BB8C58C99DDF}"/>
              </a:ext>
            </a:extLst>
          </p:cNvPr>
          <p:cNvPicPr>
            <a:picLocks noChangeAspect="1"/>
          </p:cNvPicPr>
          <p:nvPr userDrawn="1"/>
        </p:nvPicPr>
        <p:blipFill>
          <a:blip r:embed="rId13">
            <a:clrChange>
              <a:clrFrom>
                <a:srgbClr val="FFFFFF"/>
              </a:clrFrom>
              <a:clrTo>
                <a:srgbClr val="FFFFFF">
                  <a:alpha val="0"/>
                </a:srgbClr>
              </a:clrTo>
            </a:clrChange>
            <a:alphaModFix amt="50000"/>
            <a:extLst>
              <a:ext uri="{28A0092B-C50C-407E-A947-70E740481C1C}">
                <a14:useLocalDpi xmlns:a14="http://schemas.microsoft.com/office/drawing/2010/main" val="0"/>
              </a:ext>
            </a:extLst>
          </a:blip>
          <a:stretch>
            <a:fillRect/>
          </a:stretch>
        </p:blipFill>
        <p:spPr>
          <a:xfrm>
            <a:off x="0" y="0"/>
            <a:ext cx="3003452" cy="3003452"/>
          </a:xfrm>
          <a:prstGeom prst="rect">
            <a:avLst/>
          </a:prstGeom>
        </p:spPr>
      </p:pic>
      <p:sp>
        <p:nvSpPr>
          <p:cNvPr id="2" name="Rectangle 1">
            <a:extLst>
              <a:ext uri="{FF2B5EF4-FFF2-40B4-BE49-F238E27FC236}">
                <a16:creationId xmlns:a16="http://schemas.microsoft.com/office/drawing/2014/main" id="{ACAD2B12-09F5-6D4A-9C1D-AFF6A38F62BF}"/>
              </a:ext>
            </a:extLst>
          </p:cNvPr>
          <p:cNvSpPr/>
          <p:nvPr userDrawn="1"/>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2072F43C-0ACD-CF48-BDDC-4CA06CD195D7}"/>
              </a:ext>
            </a:extLst>
          </p:cNvPr>
          <p:cNvSpPr/>
          <p:nvPr userDrawn="1"/>
        </p:nvSpPr>
        <p:spPr>
          <a:xfrm>
            <a:off x="0" y="0"/>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descr="Background pattern&#10;&#10;Description automatically generated">
            <a:extLst>
              <a:ext uri="{FF2B5EF4-FFF2-40B4-BE49-F238E27FC236}">
                <a16:creationId xmlns:a16="http://schemas.microsoft.com/office/drawing/2014/main" id="{D4A3453C-FFE4-E949-B42B-748B5090DD36}"/>
              </a:ext>
            </a:extLst>
          </p:cNvPr>
          <p:cNvPicPr>
            <a:picLocks noChangeAspect="1"/>
          </p:cNvPicPr>
          <p:nvPr userDrawn="1"/>
        </p:nvPicPr>
        <p:blipFill rotWithShape="1">
          <a:blip r:embed="rId14">
            <a:clrChange>
              <a:clrFrom>
                <a:srgbClr val="F6F6F6"/>
              </a:clrFrom>
              <a:clrTo>
                <a:srgbClr val="F6F6F6">
                  <a:alpha val="0"/>
                </a:srgbClr>
              </a:clrTo>
            </a:clrChange>
            <a:duotone>
              <a:schemeClr val="bg2">
                <a:shade val="45000"/>
                <a:satMod val="135000"/>
              </a:schemeClr>
              <a:prstClr val="white"/>
            </a:duotone>
            <a:alphaModFix amt="35000"/>
            <a:extLst>
              <a:ext uri="{28A0092B-C50C-407E-A947-70E740481C1C}">
                <a14:useLocalDpi xmlns:a14="http://schemas.microsoft.com/office/drawing/2010/main" val="0"/>
              </a:ext>
            </a:extLst>
          </a:blip>
          <a:srcRect r="26721" b="8103"/>
          <a:stretch/>
        </p:blipFill>
        <p:spPr>
          <a:xfrm>
            <a:off x="8376334" y="4104641"/>
            <a:ext cx="3815666" cy="2707640"/>
          </a:xfrm>
          <a:prstGeom prst="rect">
            <a:avLst/>
          </a:prstGeom>
        </p:spPr>
      </p:pic>
      <p:sp>
        <p:nvSpPr>
          <p:cNvPr id="7" name="TextBox 6">
            <a:extLst>
              <a:ext uri="{FF2B5EF4-FFF2-40B4-BE49-F238E27FC236}">
                <a16:creationId xmlns:a16="http://schemas.microsoft.com/office/drawing/2014/main" id="{C1A8F9C9-F65C-BB4A-BF8E-4636F166836D}"/>
              </a:ext>
            </a:extLst>
          </p:cNvPr>
          <p:cNvSpPr txBox="1"/>
          <p:nvPr userDrawn="1"/>
        </p:nvSpPr>
        <p:spPr>
          <a:xfrm>
            <a:off x="1" y="6602979"/>
            <a:ext cx="2132068" cy="215444"/>
          </a:xfrm>
          <a:prstGeom prst="rect">
            <a:avLst/>
          </a:prstGeom>
          <a:noFill/>
        </p:spPr>
        <p:txBody>
          <a:bodyPr wrap="square" rtlCol="0">
            <a:spAutoFit/>
          </a:bodyPr>
          <a:lstStyle/>
          <a:p>
            <a:r>
              <a:rPr lang="en-US" sz="800">
                <a:solidFill>
                  <a:schemeClr val="bg1">
                    <a:lumMod val="95000"/>
                  </a:schemeClr>
                </a:solidFill>
              </a:rPr>
              <a:t>CREATED BY K. VICTOR BABU</a:t>
            </a:r>
          </a:p>
        </p:txBody>
      </p:sp>
    </p:spTree>
    <p:extLst>
      <p:ext uri="{BB962C8B-B14F-4D97-AF65-F5344CB8AC3E}">
        <p14:creationId xmlns:p14="http://schemas.microsoft.com/office/powerpoint/2010/main" val="62684126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sp>
        <p:nvSpPr>
          <p:cNvPr id="2" name="Rectangle 1">
            <a:extLst>
              <a:ext uri="{FF2B5EF4-FFF2-40B4-BE49-F238E27FC236}">
                <a16:creationId xmlns:a16="http://schemas.microsoft.com/office/drawing/2014/main" id="{6398423B-5803-30F8-31C4-BF716BD7197E}"/>
              </a:ext>
            </a:extLst>
          </p:cNvPr>
          <p:cNvSpPr/>
          <p:nvPr/>
        </p:nvSpPr>
        <p:spPr>
          <a:xfrm>
            <a:off x="-1" y="0"/>
            <a:ext cx="12192000" cy="6858000"/>
          </a:xfrm>
          <a:prstGeom prst="rect">
            <a:avLst/>
          </a:prstGeom>
          <a:solidFill>
            <a:schemeClr val="bg1"/>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a:t>Course Code: 25CS1201E</a:t>
            </a:r>
          </a:p>
        </p:txBody>
      </p:sp>
      <p:pic>
        <p:nvPicPr>
          <p:cNvPr id="464" name="Google Shape;464;p16"/>
          <p:cNvPicPr preferRelativeResize="0"/>
          <p:nvPr/>
        </p:nvPicPr>
        <p:blipFill>
          <a:blip r:embed="rId3">
            <a:extLst>
              <a:ext uri="{28A0092B-C50C-407E-A947-70E740481C1C}">
                <a14:useLocalDpi xmlns:a14="http://schemas.microsoft.com/office/drawing/2010/main" val="0"/>
              </a:ext>
            </a:extLst>
          </a:blip>
          <a:stretch>
            <a:fillRect/>
          </a:stretch>
        </p:blipFill>
        <p:spPr>
          <a:xfrm>
            <a:off x="0" y="117034"/>
            <a:ext cx="6027459" cy="6623931"/>
          </a:xfrm>
          <a:prstGeom prst="rect">
            <a:avLst/>
          </a:prstGeom>
          <a:noFill/>
          <a:ln>
            <a:noFill/>
          </a:ln>
        </p:spPr>
      </p:pic>
      <p:sp>
        <p:nvSpPr>
          <p:cNvPr id="476" name="Google Shape;476;p16"/>
          <p:cNvSpPr txBox="1"/>
          <p:nvPr/>
        </p:nvSpPr>
        <p:spPr>
          <a:xfrm>
            <a:off x="3956150" y="3016908"/>
            <a:ext cx="8316685" cy="3046948"/>
          </a:xfrm>
          <a:prstGeom prst="rect">
            <a:avLst/>
          </a:prstGeom>
          <a:noFill/>
          <a:ln>
            <a:noFill/>
          </a:ln>
        </p:spPr>
        <p:txBody>
          <a:bodyPr spcFirstLastPara="1" wrap="square" lIns="91425" tIns="45700" rIns="91425" bIns="45700" anchor="t" anchorCtr="0">
            <a:spAutoFit/>
          </a:bodyPr>
          <a:lstStyle/>
          <a:p>
            <a:pPr marR="0" lvl="0" indent="0" algn="ctr">
              <a:spcBef>
                <a:spcPts val="0"/>
              </a:spcBef>
              <a:spcAft>
                <a:spcPts val="0"/>
              </a:spcAft>
              <a:buNone/>
            </a:pPr>
            <a:r>
              <a:rPr lang="en-US" sz="3200" b="1" dirty="0">
                <a:solidFill>
                  <a:srgbClr val="C00000"/>
                </a:solidFill>
                <a:latin typeface="Times New Roman" panose="02020603050405020304" pitchFamily="18" charset="0"/>
                <a:ea typeface="BioRhyme ExtraBold"/>
                <a:cs typeface="Times New Roman" panose="02020603050405020304" pitchFamily="18" charset="0"/>
                <a:sym typeface="BioRhyme ExtraBold"/>
              </a:rPr>
              <a:t>CFAI</a:t>
            </a:r>
          </a:p>
          <a:p>
            <a:pPr marR="0" lvl="0" indent="0" algn="ctr">
              <a:spcBef>
                <a:spcPts val="0"/>
              </a:spcBef>
              <a:spcAft>
                <a:spcPts val="0"/>
              </a:spcAft>
              <a:buNone/>
            </a:pPr>
            <a:r>
              <a:rPr lang="en-US" sz="3200" b="1" dirty="0">
                <a:solidFill>
                  <a:srgbClr val="C00000"/>
                </a:solidFill>
                <a:latin typeface="Times New Roman" panose="02020603050405020304" pitchFamily="18" charset="0"/>
                <a:ea typeface="BioRhyme ExtraBold"/>
                <a:cs typeface="Times New Roman" panose="02020603050405020304" pitchFamily="18" charset="0"/>
                <a:sym typeface="BioRhyme ExtraBold"/>
              </a:rPr>
              <a:t>K SRI CHARAN 2520030093</a:t>
            </a:r>
          </a:p>
          <a:p>
            <a:pPr marR="0" lvl="0" indent="0" algn="ctr">
              <a:spcBef>
                <a:spcPts val="0"/>
              </a:spcBef>
              <a:spcAft>
                <a:spcPts val="0"/>
              </a:spcAft>
              <a:buNone/>
            </a:pPr>
            <a:r>
              <a:rPr lang="en-US" sz="3200" b="1" dirty="0">
                <a:solidFill>
                  <a:srgbClr val="C00000"/>
                </a:solidFill>
                <a:latin typeface="Times New Roman" panose="02020603050405020304" pitchFamily="18" charset="0"/>
                <a:ea typeface="BioRhyme ExtraBold"/>
                <a:cs typeface="Times New Roman" panose="02020603050405020304" pitchFamily="18" charset="0"/>
                <a:sym typeface="BioRhyme ExtraBold"/>
              </a:rPr>
              <a:t>A RISHI 2520030268</a:t>
            </a:r>
          </a:p>
          <a:p>
            <a:pPr marR="0" lvl="0" indent="0" algn="ctr">
              <a:spcBef>
                <a:spcPts val="0"/>
              </a:spcBef>
              <a:spcAft>
                <a:spcPts val="0"/>
              </a:spcAft>
              <a:buNone/>
            </a:pPr>
            <a:r>
              <a:rPr lang="en-US" sz="3200" b="1" dirty="0">
                <a:solidFill>
                  <a:srgbClr val="C00000"/>
                </a:solidFill>
                <a:latin typeface="Times New Roman" panose="02020603050405020304" pitchFamily="18" charset="0"/>
                <a:ea typeface="BioRhyme ExtraBold"/>
                <a:cs typeface="Times New Roman" panose="02020603050405020304" pitchFamily="18" charset="0"/>
                <a:sym typeface="BioRhyme ExtraBold"/>
              </a:rPr>
              <a:t>K ANIRUDH 2520080028</a:t>
            </a:r>
            <a:br>
              <a:rPr lang="en-US" sz="3200" b="1" dirty="0">
                <a:solidFill>
                  <a:srgbClr val="C00000"/>
                </a:solidFill>
                <a:latin typeface="Times New Roman" panose="02020603050405020304" pitchFamily="18" charset="0"/>
                <a:ea typeface="BioRhyme ExtraBold"/>
                <a:cs typeface="Times New Roman" panose="02020603050405020304" pitchFamily="18" charset="0"/>
                <a:sym typeface="BioRhyme ExtraBold"/>
              </a:rPr>
            </a:br>
            <a:endParaRPr lang="en-US" sz="3200" b="1" dirty="0">
              <a:solidFill>
                <a:srgbClr val="C00000"/>
              </a:solidFill>
              <a:latin typeface="Times New Roman" panose="02020603050405020304" pitchFamily="18" charset="0"/>
              <a:ea typeface="BioRhyme ExtraBold"/>
              <a:cs typeface="Times New Roman" panose="02020603050405020304" pitchFamily="18" charset="0"/>
              <a:sym typeface="BioRhyme ExtraBold"/>
            </a:endParaRPr>
          </a:p>
          <a:p>
            <a:pPr marR="0" lvl="0" indent="0" algn="ctr">
              <a:spcBef>
                <a:spcPts val="0"/>
              </a:spcBef>
              <a:spcAft>
                <a:spcPts val="0"/>
              </a:spcAft>
              <a:buNone/>
            </a:pPr>
            <a:r>
              <a:rPr lang="en-US" sz="3200" b="1" dirty="0">
                <a:solidFill>
                  <a:srgbClr val="C00000"/>
                </a:solidFill>
                <a:latin typeface="Times New Roman" panose="02020603050405020304" pitchFamily="18" charset="0"/>
                <a:ea typeface="BioRhyme ExtraBold"/>
                <a:cs typeface="Times New Roman" panose="02020603050405020304" pitchFamily="18" charset="0"/>
                <a:sym typeface="BioRhyme ExtraBold"/>
              </a:rPr>
              <a:t>Course Code: 25SC1306E</a:t>
            </a:r>
            <a:endParaRPr lang="en-US" sz="2000" b="1" dirty="0">
              <a:solidFill>
                <a:schemeClr val="bg1">
                  <a:lumMod val="50000"/>
                </a:schemeClr>
              </a:solidFill>
              <a:latin typeface="Times New Roman" panose="02020603050405020304" pitchFamily="18" charset="0"/>
              <a:ea typeface="BioRhyme ExtraBold"/>
              <a:cs typeface="Times New Roman" panose="02020603050405020304" pitchFamily="18" charset="0"/>
              <a:sym typeface="BioRhyme ExtraBold"/>
            </a:endParaRPr>
          </a:p>
        </p:txBody>
      </p:sp>
      <p:sp>
        <p:nvSpPr>
          <p:cNvPr id="19" name="Rectangle: Rounded Corners 18">
            <a:extLst>
              <a:ext uri="{FF2B5EF4-FFF2-40B4-BE49-F238E27FC236}">
                <a16:creationId xmlns:a16="http://schemas.microsoft.com/office/drawing/2014/main" id="{B9F0C376-F4D3-1950-3474-EFF28411BDC6}"/>
              </a:ext>
            </a:extLst>
          </p:cNvPr>
          <p:cNvSpPr/>
          <p:nvPr/>
        </p:nvSpPr>
        <p:spPr>
          <a:xfrm>
            <a:off x="6233250" y="925390"/>
            <a:ext cx="4486331" cy="574765"/>
          </a:xfrm>
          <a:prstGeom prst="roundRect">
            <a:avLst/>
          </a:prstGeom>
          <a:solidFill>
            <a:schemeClr val="bg1">
              <a:alpha val="6000"/>
            </a:schemeClr>
          </a:solidFill>
          <a:ln>
            <a:solidFill>
              <a:srgbClr val="C00000"/>
            </a:solidFill>
          </a:ln>
          <a:effectLst>
            <a:innerShdw blurRad="114300">
              <a:schemeClr val="bg1">
                <a:lumMod val="8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5" name="Google Shape;475;p16"/>
          <p:cNvSpPr txBox="1"/>
          <p:nvPr/>
        </p:nvSpPr>
        <p:spPr>
          <a:xfrm>
            <a:off x="6095999" y="830715"/>
            <a:ext cx="4595447" cy="707846"/>
          </a:xfrm>
          <a:prstGeom prst="rect">
            <a:avLst/>
          </a:prstGeom>
          <a:noFill/>
          <a:ln>
            <a:noFill/>
          </a:ln>
          <a:effectLst/>
        </p:spPr>
        <p:txBody>
          <a:bodyPr spcFirstLastPara="1" wrap="square" lIns="91425" tIns="45700" rIns="91425" bIns="45700" anchor="t" anchorCtr="0">
            <a:spAutoFit/>
          </a:bodyPr>
          <a:lstStyle/>
          <a:p>
            <a:pPr algn="ctr"/>
            <a:r>
              <a:rPr lang="en-US" sz="4000" dirty="0">
                <a:solidFill>
                  <a:srgbClr val="C00000"/>
                </a:solidFill>
                <a:latin typeface="Times New Roman" panose="02020603050405020304" pitchFamily="18" charset="0"/>
                <a:cs typeface="Times New Roman" panose="02020603050405020304" pitchFamily="18" charset="0"/>
              </a:rPr>
              <a:t>Department of CFAI</a:t>
            </a:r>
          </a:p>
        </p:txBody>
      </p:sp>
      <p:sp>
        <p:nvSpPr>
          <p:cNvPr id="33" name="Rectangle 32">
            <a:extLst>
              <a:ext uri="{FF2B5EF4-FFF2-40B4-BE49-F238E27FC236}">
                <a16:creationId xmlns:a16="http://schemas.microsoft.com/office/drawing/2014/main" id="{A2BDCC77-0491-FC57-401C-380586D8ED1D}"/>
              </a:ext>
            </a:extLst>
          </p:cNvPr>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38D9C68F-2EE2-5410-B640-4F43BF92A6C1}"/>
              </a:ext>
            </a:extLst>
          </p:cNvPr>
          <p:cNvSpPr/>
          <p:nvPr/>
        </p:nvSpPr>
        <p:spPr>
          <a:xfrm>
            <a:off x="0" y="0"/>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00A7203E-8270-BBE2-82B8-5B5D551C3E0A}"/>
              </a:ext>
            </a:extLst>
          </p:cNvPr>
          <p:cNvPicPr>
            <a:picLocks noChangeAspect="1"/>
          </p:cNvPicPr>
          <p:nvPr/>
        </p:nvPicPr>
        <p:blipFill>
          <a:blip r:embed="rId4"/>
          <a:stretch>
            <a:fillRect/>
          </a:stretch>
        </p:blipFill>
        <p:spPr>
          <a:xfrm>
            <a:off x="86069" y="53962"/>
            <a:ext cx="2202276" cy="1017491"/>
          </a:xfrm>
          <a:prstGeom prst="rect">
            <a:avLst/>
          </a:prstGeom>
        </p:spPr>
      </p:pic>
      <p:sp>
        <p:nvSpPr>
          <p:cNvPr id="4" name="Google Shape;476;p16">
            <a:extLst>
              <a:ext uri="{FF2B5EF4-FFF2-40B4-BE49-F238E27FC236}">
                <a16:creationId xmlns:a16="http://schemas.microsoft.com/office/drawing/2014/main" id="{6946C5B3-72D8-1ED2-69AA-95F5BE5BCDA3}"/>
              </a:ext>
            </a:extLst>
          </p:cNvPr>
          <p:cNvSpPr txBox="1"/>
          <p:nvPr/>
        </p:nvSpPr>
        <p:spPr>
          <a:xfrm>
            <a:off x="3713641" y="4678902"/>
            <a:ext cx="8316685" cy="400069"/>
          </a:xfrm>
          <a:prstGeom prst="rect">
            <a:avLst/>
          </a:prstGeom>
          <a:noFill/>
          <a:ln>
            <a:noFill/>
          </a:ln>
        </p:spPr>
        <p:txBody>
          <a:bodyPr spcFirstLastPara="1" wrap="square" lIns="91425" tIns="45700" rIns="91425" bIns="45700" anchor="t" anchorCtr="0">
            <a:spAutoFit/>
          </a:bodyPr>
          <a:lstStyle/>
          <a:p>
            <a:pPr marR="0" lvl="0" indent="0" algn="ctr">
              <a:spcBef>
                <a:spcPts val="0"/>
              </a:spcBef>
              <a:spcAft>
                <a:spcPts val="0"/>
              </a:spcAft>
              <a:buNone/>
            </a:pPr>
            <a:endParaRPr lang="en-US" sz="2000" b="1" dirty="0">
              <a:solidFill>
                <a:schemeClr val="bg1">
                  <a:lumMod val="50000"/>
                </a:schemeClr>
              </a:solidFill>
              <a:latin typeface="Times New Roman" panose="02020603050405020304" pitchFamily="18" charset="0"/>
              <a:ea typeface="BioRhyme ExtraBold"/>
              <a:cs typeface="Times New Roman" panose="02020603050405020304" pitchFamily="18" charset="0"/>
              <a:sym typeface="BioRhyme ExtraBold"/>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00D02BC-DF0A-F55C-FDC7-799C1F38D106}"/>
              </a:ext>
            </a:extLst>
          </p:cNvPr>
          <p:cNvSpPr txBox="1"/>
          <p:nvPr/>
        </p:nvSpPr>
        <p:spPr>
          <a:xfrm>
            <a:off x="875899" y="2000245"/>
            <a:ext cx="10480359" cy="3477875"/>
          </a:xfrm>
          <a:prstGeom prst="rect">
            <a:avLst/>
          </a:prstGeom>
          <a:noFill/>
        </p:spPr>
        <p:txBody>
          <a:bodyPr wrap="square">
            <a:spAutoFit/>
          </a:bodyPr>
          <a:lstStyle/>
          <a:p>
            <a:pPr algn="ctr"/>
            <a:r>
              <a:rPr lang="en-IN" sz="2400" b="1" dirty="0">
                <a:solidFill>
                  <a:srgbClr val="333333"/>
                </a:solidFill>
                <a:latin typeface="Lato" panose="020F0502020204030203" pitchFamily="34" charset="0"/>
              </a:rPr>
              <a:t>ABSRACT</a:t>
            </a:r>
          </a:p>
          <a:p>
            <a:pPr algn="ctr"/>
            <a:r>
              <a:rPr lang="en-IN" sz="2800" dirty="0"/>
              <a:t>A Hospital Bed Allocation System is a software solution designed to manage and allocate hospital beds efficiently. The system helps hospitals track bed availability in real time, reduce patient waiting time, and optimize resource utilization. It automates the process of assigning beds based on patient requirements, ward availability, and priority levels. The system improves hospital operations, enhances patient care, and minimizes manual errors in bed management</a:t>
            </a:r>
            <a:r>
              <a:rPr lang="en-IN" sz="2400" dirty="0"/>
              <a:t>.</a:t>
            </a:r>
            <a:endParaRPr lang="en-IN" sz="2400" b="1" i="0" dirty="0">
              <a:solidFill>
                <a:srgbClr val="333333"/>
              </a:solidFill>
              <a:effectLst/>
              <a:latin typeface="Lato" panose="020F0502020204030203" pitchFamily="34" charset="0"/>
            </a:endParaRPr>
          </a:p>
        </p:txBody>
      </p:sp>
      <p:pic>
        <p:nvPicPr>
          <p:cNvPr id="2" name="Picture 1">
            <a:extLst>
              <a:ext uri="{FF2B5EF4-FFF2-40B4-BE49-F238E27FC236}">
                <a16:creationId xmlns:a16="http://schemas.microsoft.com/office/drawing/2014/main" id="{62807949-000B-521A-B52C-55AE532A7D73}"/>
              </a:ext>
            </a:extLst>
          </p:cNvPr>
          <p:cNvPicPr>
            <a:picLocks noChangeAspect="1"/>
          </p:cNvPicPr>
          <p:nvPr/>
        </p:nvPicPr>
        <p:blipFill>
          <a:blip r:embed="rId2"/>
          <a:stretch>
            <a:fillRect/>
          </a:stretch>
        </p:blipFill>
        <p:spPr>
          <a:xfrm>
            <a:off x="86069" y="53962"/>
            <a:ext cx="2202276" cy="1017491"/>
          </a:xfrm>
          <a:prstGeom prst="rect">
            <a:avLst/>
          </a:prstGeom>
        </p:spPr>
      </p:pic>
    </p:spTree>
    <p:extLst>
      <p:ext uri="{BB962C8B-B14F-4D97-AF65-F5344CB8AC3E}">
        <p14:creationId xmlns:p14="http://schemas.microsoft.com/office/powerpoint/2010/main" val="14313433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F558576-DDF7-694E-BC2A-EB39B9E34C62}"/>
              </a:ext>
            </a:extLst>
          </p:cNvPr>
          <p:cNvSpPr txBox="1"/>
          <p:nvPr/>
        </p:nvSpPr>
        <p:spPr>
          <a:xfrm>
            <a:off x="346510" y="1187927"/>
            <a:ext cx="11475376" cy="4524315"/>
          </a:xfrm>
          <a:prstGeom prst="rect">
            <a:avLst/>
          </a:prstGeom>
          <a:noFill/>
        </p:spPr>
        <p:txBody>
          <a:bodyPr wrap="square">
            <a:spAutoFit/>
          </a:bodyPr>
          <a:lstStyle/>
          <a:p>
            <a:r>
              <a:rPr lang="en-IN" sz="3200" b="1" dirty="0"/>
              <a:t>Objectives of the Hospital Bed Allocation System</a:t>
            </a:r>
          </a:p>
          <a:p>
            <a:r>
              <a:rPr lang="en-IN" sz="3200" dirty="0"/>
              <a:t>To provide real-time information about bed availability. </a:t>
            </a:r>
          </a:p>
          <a:p>
            <a:r>
              <a:rPr lang="en-IN" sz="3200" dirty="0"/>
              <a:t>To automate the bed allocation process. </a:t>
            </a:r>
          </a:p>
          <a:p>
            <a:r>
              <a:rPr lang="en-IN" sz="3200" dirty="0"/>
              <a:t>To reduce patient waiting time during admission. </a:t>
            </a:r>
          </a:p>
          <a:p>
            <a:r>
              <a:rPr lang="en-IN" sz="3200" dirty="0"/>
              <a:t>To improve hospital resource utilization. </a:t>
            </a:r>
          </a:p>
          <a:p>
            <a:r>
              <a:rPr lang="en-IN" sz="3200" dirty="0"/>
              <a:t>To maintain accurate patient and bed records. </a:t>
            </a:r>
          </a:p>
          <a:p>
            <a:r>
              <a:rPr lang="en-IN" sz="3200" dirty="0"/>
              <a:t>To support emergency and priority-based bed assignments. </a:t>
            </a:r>
          </a:p>
          <a:p>
            <a:r>
              <a:rPr lang="en-IN" sz="3200" dirty="0"/>
              <a:t>To generate reports for hospital management.</a:t>
            </a:r>
          </a:p>
          <a:p>
            <a:pPr algn="l">
              <a:buNone/>
            </a:pPr>
            <a:endParaRPr lang="en-US" sz="3200" b="0" i="0" dirty="0">
              <a:solidFill>
                <a:srgbClr val="3D3D3A"/>
              </a:solidFill>
              <a:effectLst/>
              <a:latin typeface="Anthropic Sans"/>
            </a:endParaRPr>
          </a:p>
        </p:txBody>
      </p:sp>
      <p:pic>
        <p:nvPicPr>
          <p:cNvPr id="2" name="Picture 1">
            <a:extLst>
              <a:ext uri="{FF2B5EF4-FFF2-40B4-BE49-F238E27FC236}">
                <a16:creationId xmlns:a16="http://schemas.microsoft.com/office/drawing/2014/main" id="{57DC2783-C0B8-A0E0-CE57-A88DD8AF6CA3}"/>
              </a:ext>
            </a:extLst>
          </p:cNvPr>
          <p:cNvPicPr>
            <a:picLocks noChangeAspect="1"/>
          </p:cNvPicPr>
          <p:nvPr/>
        </p:nvPicPr>
        <p:blipFill>
          <a:blip r:embed="rId2"/>
          <a:stretch>
            <a:fillRect/>
          </a:stretch>
        </p:blipFill>
        <p:spPr>
          <a:xfrm>
            <a:off x="86069" y="53962"/>
            <a:ext cx="2202276" cy="1017491"/>
          </a:xfrm>
          <a:prstGeom prst="rect">
            <a:avLst/>
          </a:prstGeom>
        </p:spPr>
      </p:pic>
      <p:sp>
        <p:nvSpPr>
          <p:cNvPr id="4" name="Rounded Rectangle 17">
            <a:extLst>
              <a:ext uri="{FF2B5EF4-FFF2-40B4-BE49-F238E27FC236}">
                <a16:creationId xmlns:a16="http://schemas.microsoft.com/office/drawing/2014/main" id="{0EEE2190-0C75-14CB-6A27-633E44ADFC96}"/>
              </a:ext>
            </a:extLst>
          </p:cNvPr>
          <p:cNvSpPr/>
          <p:nvPr/>
        </p:nvSpPr>
        <p:spPr>
          <a:xfrm>
            <a:off x="3341915" y="160873"/>
            <a:ext cx="7097485"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450"/>
              </a:spcAft>
              <a:buNone/>
            </a:pPr>
            <a:r>
              <a:rPr lang="en-US" sz="2800" b="1" dirty="0">
                <a:solidFill>
                  <a:schemeClr val="bg1"/>
                </a:solidFill>
                <a:latin typeface="Anthropic Sans"/>
              </a:rPr>
              <a:t>OBJECTIVES</a:t>
            </a:r>
          </a:p>
        </p:txBody>
      </p:sp>
    </p:spTree>
    <p:extLst>
      <p:ext uri="{BB962C8B-B14F-4D97-AF65-F5344CB8AC3E}">
        <p14:creationId xmlns:p14="http://schemas.microsoft.com/office/powerpoint/2010/main" val="29526625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89BD72B-F135-7760-F5AA-D216B6817FEB}"/>
              </a:ext>
            </a:extLst>
          </p:cNvPr>
          <p:cNvSpPr txBox="1"/>
          <p:nvPr/>
        </p:nvSpPr>
        <p:spPr>
          <a:xfrm>
            <a:off x="584277" y="1611361"/>
            <a:ext cx="11357810" cy="4548809"/>
          </a:xfrm>
          <a:prstGeom prst="rect">
            <a:avLst/>
          </a:prstGeom>
          <a:noFill/>
        </p:spPr>
        <p:txBody>
          <a:bodyPr wrap="square">
            <a:spAutoFit/>
          </a:bodyPr>
          <a:lstStyle/>
          <a:p>
            <a:r>
              <a:rPr lang="en-IN" sz="2000" b="1" dirty="0"/>
              <a:t>Methodology</a:t>
            </a:r>
          </a:p>
          <a:p>
            <a:r>
              <a:rPr lang="en-IN" sz="2000" b="1" dirty="0"/>
              <a:t>Patient Registration</a:t>
            </a:r>
            <a:r>
              <a:rPr lang="en-IN" sz="2000" dirty="0"/>
              <a:t> </a:t>
            </a:r>
          </a:p>
          <a:p>
            <a:pPr lvl="1"/>
            <a:r>
              <a:rPr lang="en-IN" sz="2000" dirty="0"/>
              <a:t>Patient details are entered into the system. </a:t>
            </a:r>
          </a:p>
          <a:p>
            <a:r>
              <a:rPr lang="en-IN" sz="2000" b="1" dirty="0"/>
              <a:t>Bed Availability Check</a:t>
            </a:r>
            <a:r>
              <a:rPr lang="en-IN" sz="2000" dirty="0"/>
              <a:t> </a:t>
            </a:r>
          </a:p>
          <a:p>
            <a:pPr lvl="1"/>
            <a:r>
              <a:rPr lang="en-IN" sz="2000" dirty="0"/>
              <a:t>The system checks available beds in different wards. </a:t>
            </a:r>
          </a:p>
          <a:p>
            <a:r>
              <a:rPr lang="en-IN" sz="2000" b="1" dirty="0"/>
              <a:t>Priority Assessment</a:t>
            </a:r>
            <a:r>
              <a:rPr lang="en-IN" sz="2000" dirty="0"/>
              <a:t> </a:t>
            </a:r>
          </a:p>
          <a:p>
            <a:pPr lvl="1"/>
            <a:r>
              <a:rPr lang="en-IN" sz="2000" dirty="0"/>
              <a:t>Emergency and critical patients are given higher priority. </a:t>
            </a:r>
          </a:p>
          <a:p>
            <a:r>
              <a:rPr lang="en-IN" sz="2000" b="1" dirty="0"/>
              <a:t>Automatic Bed Allocation</a:t>
            </a:r>
            <a:r>
              <a:rPr lang="en-IN" sz="2000" dirty="0"/>
              <a:t> </a:t>
            </a:r>
          </a:p>
          <a:p>
            <a:pPr lvl="1"/>
            <a:r>
              <a:rPr lang="en-IN" sz="2000" dirty="0"/>
              <a:t>Suitable beds are assigned based on availability and patient requirements. </a:t>
            </a:r>
          </a:p>
          <a:p>
            <a:r>
              <a:rPr lang="en-IN" sz="2000" b="1" dirty="0"/>
              <a:t>Database Update</a:t>
            </a:r>
            <a:r>
              <a:rPr lang="en-IN" sz="2000" dirty="0"/>
              <a:t> </a:t>
            </a:r>
          </a:p>
          <a:p>
            <a:pPr lvl="1"/>
            <a:r>
              <a:rPr lang="en-IN" sz="2000" dirty="0"/>
              <a:t>Bed status is updated automatically after allocation or discharge. </a:t>
            </a:r>
          </a:p>
          <a:p>
            <a:r>
              <a:rPr lang="en-IN" sz="2000" b="1" dirty="0"/>
              <a:t>Report Generation</a:t>
            </a:r>
            <a:r>
              <a:rPr lang="en-IN" sz="2000" dirty="0"/>
              <a:t> </a:t>
            </a:r>
          </a:p>
          <a:p>
            <a:pPr lvl="1"/>
            <a:r>
              <a:rPr lang="en-IN" sz="2000" dirty="0"/>
              <a:t>The system generates occupancy and allocation reports.</a:t>
            </a:r>
          </a:p>
          <a:p>
            <a:pPr>
              <a:lnSpc>
                <a:spcPct val="150000"/>
              </a:lnSpc>
              <a:spcAft>
                <a:spcPts val="450"/>
              </a:spcAft>
            </a:pPr>
            <a:endParaRPr lang="en-IN" sz="2200" b="0" i="0" dirty="0">
              <a:solidFill>
                <a:srgbClr val="141413"/>
              </a:solidFill>
              <a:effectLst/>
              <a:latin typeface="Anthropic Sans"/>
            </a:endParaRPr>
          </a:p>
        </p:txBody>
      </p:sp>
      <p:pic>
        <p:nvPicPr>
          <p:cNvPr id="6" name="Picture 5">
            <a:extLst>
              <a:ext uri="{FF2B5EF4-FFF2-40B4-BE49-F238E27FC236}">
                <a16:creationId xmlns:a16="http://schemas.microsoft.com/office/drawing/2014/main" id="{4B51B4FD-0ACE-9A25-6260-9EF52DEC9767}"/>
              </a:ext>
            </a:extLst>
          </p:cNvPr>
          <p:cNvPicPr>
            <a:picLocks noChangeAspect="1"/>
          </p:cNvPicPr>
          <p:nvPr/>
        </p:nvPicPr>
        <p:blipFill>
          <a:blip r:embed="rId2"/>
          <a:stretch>
            <a:fillRect/>
          </a:stretch>
        </p:blipFill>
        <p:spPr>
          <a:xfrm>
            <a:off x="86069" y="53962"/>
            <a:ext cx="2202276" cy="1017491"/>
          </a:xfrm>
          <a:prstGeom prst="rect">
            <a:avLst/>
          </a:prstGeom>
        </p:spPr>
      </p:pic>
      <p:sp>
        <p:nvSpPr>
          <p:cNvPr id="7" name="Rounded Rectangle 17">
            <a:extLst>
              <a:ext uri="{FF2B5EF4-FFF2-40B4-BE49-F238E27FC236}">
                <a16:creationId xmlns:a16="http://schemas.microsoft.com/office/drawing/2014/main" id="{9F981509-569A-C09A-60A5-58D67D0F69C4}"/>
              </a:ext>
            </a:extLst>
          </p:cNvPr>
          <p:cNvSpPr/>
          <p:nvPr/>
        </p:nvSpPr>
        <p:spPr>
          <a:xfrm>
            <a:off x="2963373" y="226188"/>
            <a:ext cx="7097485" cy="84526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450"/>
              </a:spcAft>
              <a:buNone/>
            </a:pPr>
            <a:r>
              <a:rPr lang="en-US" sz="2800" b="1" dirty="0">
                <a:latin typeface="Anthropic Sans"/>
              </a:rPr>
              <a:t>M</a:t>
            </a:r>
            <a:r>
              <a:rPr lang="en-IN" sz="2800" b="1" dirty="0">
                <a:latin typeface="Anthropic Sans"/>
              </a:rPr>
              <a:t>ETHODS</a:t>
            </a:r>
          </a:p>
        </p:txBody>
      </p:sp>
    </p:spTree>
    <p:extLst>
      <p:ext uri="{BB962C8B-B14F-4D97-AF65-F5344CB8AC3E}">
        <p14:creationId xmlns:p14="http://schemas.microsoft.com/office/powerpoint/2010/main" val="13210893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689CDB5-5637-C0E3-843C-CE0277FA5E82}"/>
              </a:ext>
            </a:extLst>
          </p:cNvPr>
          <p:cNvSpPr txBox="1"/>
          <p:nvPr/>
        </p:nvSpPr>
        <p:spPr>
          <a:xfrm>
            <a:off x="455368" y="566678"/>
            <a:ext cx="5823283" cy="707886"/>
          </a:xfrm>
          <a:prstGeom prst="rect">
            <a:avLst/>
          </a:prstGeom>
          <a:noFill/>
        </p:spPr>
        <p:txBody>
          <a:bodyPr wrap="square">
            <a:spAutoFit/>
          </a:bodyPr>
          <a:lstStyle/>
          <a:p>
            <a:pPr>
              <a:buNone/>
            </a:pPr>
            <a:br>
              <a:rPr lang="en-IN" sz="2000" b="0" dirty="0">
                <a:solidFill>
                  <a:srgbClr val="000000"/>
                </a:solidFill>
                <a:effectLst/>
                <a:latin typeface="Times New Roman" panose="02020603050405020304" pitchFamily="18" charset="0"/>
                <a:cs typeface="Times New Roman" panose="02020603050405020304" pitchFamily="18" charset="0"/>
              </a:rPr>
            </a:br>
            <a:endParaRPr lang="en-IN" sz="2000" b="0" dirty="0">
              <a:solidFill>
                <a:srgbClr val="000000"/>
              </a:solidFill>
              <a:effectLst/>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BAA0CF8A-D2E5-3AA7-C9F2-DD470E9101B0}"/>
              </a:ext>
            </a:extLst>
          </p:cNvPr>
          <p:cNvSpPr txBox="1"/>
          <p:nvPr/>
        </p:nvSpPr>
        <p:spPr>
          <a:xfrm>
            <a:off x="2237015" y="335845"/>
            <a:ext cx="6193970" cy="461665"/>
          </a:xfrm>
          <a:prstGeom prst="rect">
            <a:avLst/>
          </a:prstGeom>
          <a:noFill/>
        </p:spPr>
        <p:txBody>
          <a:bodyPr wrap="square">
            <a:spAutoFit/>
          </a:bodyPr>
          <a:lstStyle/>
          <a:p>
            <a:pPr>
              <a:buNone/>
            </a:pPr>
            <a:r>
              <a:rPr lang="en-US" sz="2400" b="1" dirty="0">
                <a:solidFill>
                  <a:srgbClr val="FF0000"/>
                </a:solidFill>
                <a:effectLst/>
                <a:latin typeface="Times New Roman" panose="02020603050405020304" pitchFamily="18" charset="0"/>
                <a:cs typeface="Times New Roman" panose="02020603050405020304" pitchFamily="18" charset="0"/>
              </a:rPr>
              <a:t>FUTURE SCOPE</a:t>
            </a:r>
            <a:endParaRPr lang="en-IN" sz="2400" b="0" dirty="0">
              <a:solidFill>
                <a:srgbClr val="FF0000"/>
              </a:solidFill>
              <a:effectLst/>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C7B4AD4E-5FD6-1A5D-EE4D-2BA702DB23FD}"/>
              </a:ext>
            </a:extLst>
          </p:cNvPr>
          <p:cNvPicPr>
            <a:picLocks noChangeAspect="1"/>
          </p:cNvPicPr>
          <p:nvPr/>
        </p:nvPicPr>
        <p:blipFill>
          <a:blip r:embed="rId2"/>
          <a:stretch>
            <a:fillRect/>
          </a:stretch>
        </p:blipFill>
        <p:spPr>
          <a:xfrm>
            <a:off x="86069" y="53963"/>
            <a:ext cx="1612102" cy="744820"/>
          </a:xfrm>
          <a:prstGeom prst="rect">
            <a:avLst/>
          </a:prstGeom>
        </p:spPr>
      </p:pic>
      <p:sp>
        <p:nvSpPr>
          <p:cNvPr id="7" name="TextBox 6">
            <a:extLst>
              <a:ext uri="{FF2B5EF4-FFF2-40B4-BE49-F238E27FC236}">
                <a16:creationId xmlns:a16="http://schemas.microsoft.com/office/drawing/2014/main" id="{1CC7F070-0133-1D17-3988-B148B1627306}"/>
              </a:ext>
            </a:extLst>
          </p:cNvPr>
          <p:cNvSpPr txBox="1"/>
          <p:nvPr/>
        </p:nvSpPr>
        <p:spPr>
          <a:xfrm>
            <a:off x="455368" y="920621"/>
            <a:ext cx="9225050" cy="4031873"/>
          </a:xfrm>
          <a:prstGeom prst="rect">
            <a:avLst/>
          </a:prstGeom>
          <a:noFill/>
        </p:spPr>
        <p:txBody>
          <a:bodyPr wrap="square">
            <a:spAutoFit/>
          </a:bodyPr>
          <a:lstStyle/>
          <a:p>
            <a:pPr>
              <a:buNone/>
            </a:pPr>
            <a:r>
              <a:rPr lang="en-IN" sz="3200" b="1" dirty="0"/>
              <a:t>Future Scope</a:t>
            </a:r>
          </a:p>
          <a:p>
            <a:pPr>
              <a:buFont typeface="Arial" panose="020B0604020202020204" pitchFamily="34" charset="0"/>
              <a:buChar char="•"/>
            </a:pPr>
            <a:r>
              <a:rPr lang="en-IN" sz="3200" dirty="0"/>
              <a:t>Integration with IoT-enabled smart hospital beds. </a:t>
            </a:r>
          </a:p>
          <a:p>
            <a:pPr>
              <a:buFont typeface="Arial" panose="020B0604020202020204" pitchFamily="34" charset="0"/>
              <a:buChar char="•"/>
            </a:pPr>
            <a:r>
              <a:rPr lang="en-IN" sz="3200" dirty="0"/>
              <a:t>AI-based prediction of bed occupancy rates. </a:t>
            </a:r>
          </a:p>
          <a:p>
            <a:pPr>
              <a:buFont typeface="Arial" panose="020B0604020202020204" pitchFamily="34" charset="0"/>
              <a:buChar char="•"/>
            </a:pPr>
            <a:r>
              <a:rPr lang="en-IN" sz="3200" dirty="0"/>
              <a:t>Mobile application for hospital staff. </a:t>
            </a:r>
          </a:p>
          <a:p>
            <a:pPr>
              <a:buFont typeface="Arial" panose="020B0604020202020204" pitchFamily="34" charset="0"/>
              <a:buChar char="•"/>
            </a:pPr>
            <a:r>
              <a:rPr lang="en-IN" sz="3200" dirty="0"/>
              <a:t>Integration with Electronic Health Records (EHR). </a:t>
            </a:r>
          </a:p>
          <a:p>
            <a:pPr>
              <a:buFont typeface="Arial" panose="020B0604020202020204" pitchFamily="34" charset="0"/>
              <a:buChar char="•"/>
            </a:pPr>
            <a:r>
              <a:rPr lang="en-IN" sz="3200" dirty="0"/>
              <a:t>Cloud-based centralized hospital management. </a:t>
            </a:r>
          </a:p>
          <a:p>
            <a:pPr>
              <a:buFont typeface="Arial" panose="020B0604020202020204" pitchFamily="34" charset="0"/>
              <a:buChar char="•"/>
            </a:pPr>
            <a:r>
              <a:rPr lang="en-IN" sz="3200" dirty="0"/>
              <a:t>Real-time emergency bed reservation system. </a:t>
            </a:r>
          </a:p>
          <a:p>
            <a:pPr>
              <a:buFont typeface="Arial" panose="020B0604020202020204" pitchFamily="34" charset="0"/>
              <a:buChar char="•"/>
            </a:pPr>
            <a:r>
              <a:rPr lang="en-IN" sz="3200" dirty="0"/>
              <a:t>Analytics dashboard for hospital administrators.</a:t>
            </a:r>
          </a:p>
        </p:txBody>
      </p:sp>
    </p:spTree>
    <p:extLst>
      <p:ext uri="{BB962C8B-B14F-4D97-AF65-F5344CB8AC3E}">
        <p14:creationId xmlns:p14="http://schemas.microsoft.com/office/powerpoint/2010/main" val="620198208"/>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xtreme Shadow">
      <a:fillStyleLst>
        <a:solidFill>
          <a:schemeClr val="phClr"/>
        </a:solidFill>
        <a:gradFill rotWithShape="1">
          <a:gsLst>
            <a:gs pos="0">
              <a:schemeClr val="phClr">
                <a:tint val="90000"/>
              </a:schemeClr>
            </a:gs>
            <a:gs pos="48000">
              <a:schemeClr val="phClr">
                <a:tint val="54000"/>
                <a:satMod val="140000"/>
              </a:schemeClr>
            </a:gs>
            <a:gs pos="100000">
              <a:schemeClr val="phClr">
                <a:tint val="24000"/>
                <a:satMod val="260000"/>
              </a:schemeClr>
            </a:gs>
          </a:gsLst>
          <a:lin ang="16200000" scaled="1"/>
        </a:gradFill>
        <a:gradFill rotWithShape="1">
          <a:gsLst>
            <a:gs pos="0">
              <a:schemeClr val="phClr"/>
            </a:gs>
            <a:gs pos="100000">
              <a:schemeClr val="phClr">
                <a:shade val="48000"/>
                <a:satMod val="180000"/>
                <a:lumMod val="94000"/>
              </a:schemeClr>
            </a:gs>
            <a:gs pos="100000">
              <a:schemeClr val="phClr">
                <a:shade val="48000"/>
                <a:satMod val="180000"/>
                <a:lumMod val="94000"/>
              </a:schemeClr>
            </a:gs>
          </a:gsLst>
          <a:lin ang="4140000" scaled="1"/>
        </a:gradFill>
      </a:fillStyleLst>
      <a:lnStyleLst>
        <a:ln w="12700" cap="flat" cmpd="sng" algn="ctr">
          <a:solidFill>
            <a:schemeClr val="phClr"/>
          </a:solidFill>
          <a:prstDash val="solid"/>
        </a:ln>
        <a:ln w="19050" cap="flat" cmpd="sng" algn="ctr">
          <a:solidFill>
            <a:schemeClr val="phClr"/>
          </a:solidFill>
          <a:prstDash val="solid"/>
        </a:ln>
        <a:ln w="28575" cap="flat" cmpd="sng" algn="ctr">
          <a:solidFill>
            <a:schemeClr val="phClr"/>
          </a:solidFill>
          <a:prstDash val="solid"/>
        </a:ln>
      </a:lnStyleLst>
      <a:effectStyleLst>
        <a:effectStyle>
          <a:effectLst>
            <a:outerShdw blurRad="63500" dist="12700" dir="5400000" sx="102000" sy="102000" rotWithShape="0">
              <a:srgbClr val="000000">
                <a:alpha val="32000"/>
              </a:srgbClr>
            </a:outerShdw>
          </a:effectLst>
        </a:effectStyle>
        <a:effectStyle>
          <a:effectLst>
            <a:outerShdw blurRad="76200" dist="38100" dir="5400000" rotWithShape="0">
              <a:srgbClr val="000000">
                <a:alpha val="60000"/>
              </a:srgbClr>
            </a:outerShdw>
          </a:effectLst>
          <a:scene3d>
            <a:camera prst="orthographicFront">
              <a:rot lat="0" lon="0" rev="0"/>
            </a:camera>
            <a:lightRig rig="threePt" dir="tl">
              <a:rot lat="0" lon="0" rev="19800000"/>
            </a:lightRig>
          </a:scene3d>
          <a:sp3d prstMaterial="plastic">
            <a:bevelT w="25400" h="19050"/>
          </a:sp3d>
        </a:effectStyle>
        <a:effectStyle>
          <a:effectLst>
            <a:outerShdw blurRad="114300" dist="114300" dir="5400000" rotWithShape="0">
              <a:srgbClr val="000000">
                <a:alpha val="70000"/>
              </a:srgbClr>
            </a:outerShdw>
          </a:effectLst>
          <a:scene3d>
            <a:camera prst="orthographicFront">
              <a:rot lat="0" lon="0" rev="0"/>
            </a:camera>
            <a:lightRig rig="threePt" dir="t">
              <a:rot lat="0" lon="0" rev="19800000"/>
            </a:lightRig>
          </a:scene3d>
          <a:sp3d prstMaterial="plastic">
            <a:bevelT w="38100" h="31750"/>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845058B0D91A7444BDF69F20EF097C18" ma:contentTypeVersion="14" ma:contentTypeDescription="Create a new document." ma:contentTypeScope="" ma:versionID="0ede872240208156a106060c7bf37a70">
  <xsd:schema xmlns:xsd="http://www.w3.org/2001/XMLSchema" xmlns:xs="http://www.w3.org/2001/XMLSchema" xmlns:p="http://schemas.microsoft.com/office/2006/metadata/properties" xmlns:ns3="d43ee83c-3e71-4748-8ebc-8eaadf793425" xmlns:ns4="0125a647-8023-46ae-ae6e-85cf36d841bd" targetNamespace="http://schemas.microsoft.com/office/2006/metadata/properties" ma:root="true" ma:fieldsID="e836ceb473825fb8f3d8aa266dca4abb" ns3:_="" ns4:_="">
    <xsd:import namespace="d43ee83c-3e71-4748-8ebc-8eaadf793425"/>
    <xsd:import namespace="0125a647-8023-46ae-ae6e-85cf36d841bd"/>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DateTaken" minOccurs="0"/>
                <xsd:element ref="ns4:MediaServiceAutoTags" minOccurs="0"/>
                <xsd:element ref="ns4:MediaServiceGenerationTime" minOccurs="0"/>
                <xsd:element ref="ns4:MediaServiceEventHashCode" minOccurs="0"/>
                <xsd:element ref="ns4:MediaServiceOCR" minOccurs="0"/>
                <xsd:element ref="ns4:MediaLengthInSeconds" minOccurs="0"/>
                <xsd:element ref="ns4:MediaServiceAutoKeyPoints" minOccurs="0"/>
                <xsd:element ref="ns4:MediaServiceKeyPoints" minOccurs="0"/>
                <xsd:element ref="ns4: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43ee83c-3e71-4748-8ebc-8eaadf793425"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SharingHintHash" ma:index="10" nillable="true" ma:displayName="Sharing Hint Hash"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125a647-8023-46ae-ae6e-85cf36d841bd"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ServiceAutoTags" ma:index="14" nillable="true" ma:displayName="Tags" ma:internalName="MediaServiceAutoTags"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LengthInSeconds" ma:index="18" nillable="true" ma:displayName="Length (seconds)" ma:internalName="MediaLengthInSeconds" ma:readOnly="true">
      <xsd:simpleType>
        <xsd:restriction base="dms:Unknown"/>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ServiceLocation" ma:index="21" nillable="true" ma:displayName="Location" ma:internalName="MediaServiceLocatio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DA00F5F-5366-4B1C-9406-30DECA796ABB}">
  <ds:schemaRefs>
    <ds:schemaRef ds:uri="http://schemas.microsoft.com/sharepoint/v3/contenttype/forms"/>
  </ds:schemaRefs>
</ds:datastoreItem>
</file>

<file path=customXml/itemProps2.xml><?xml version="1.0" encoding="utf-8"?>
<ds:datastoreItem xmlns:ds="http://schemas.openxmlformats.org/officeDocument/2006/customXml" ds:itemID="{EBBD0A98-E68B-4DAA-8964-2F739D6D4075}">
  <ds:schemaRefs>
    <ds:schemaRef ds:uri="http://schemas.microsoft.com/office/2006/metadata/properties"/>
    <ds:schemaRef ds:uri="http://www.w3.org/XML/1998/namespace"/>
    <ds:schemaRef ds:uri="http://purl.org/dc/terms/"/>
    <ds:schemaRef ds:uri="http://schemas.openxmlformats.org/package/2006/metadata/core-properties"/>
    <ds:schemaRef ds:uri="http://schemas.microsoft.com/office/2006/documentManagement/types"/>
    <ds:schemaRef ds:uri="http://purl.org/dc/dcmitype/"/>
    <ds:schemaRef ds:uri="d43ee83c-3e71-4748-8ebc-8eaadf793425"/>
    <ds:schemaRef ds:uri="http://schemas.microsoft.com/office/infopath/2007/PartnerControls"/>
    <ds:schemaRef ds:uri="0125a647-8023-46ae-ae6e-85cf36d841bd"/>
    <ds:schemaRef ds:uri="http://purl.org/dc/elements/1.1/"/>
  </ds:schemaRefs>
</ds:datastoreItem>
</file>

<file path=customXml/itemProps3.xml><?xml version="1.0" encoding="utf-8"?>
<ds:datastoreItem xmlns:ds="http://schemas.openxmlformats.org/officeDocument/2006/customXml" ds:itemID="{C89A6ECA-0C1B-4F00-836D-A696F073E5C2}">
  <ds:schemaRefs>
    <ds:schemaRef ds:uri="0125a647-8023-46ae-ae6e-85cf36d841bd"/>
    <ds:schemaRef ds:uri="d43ee83c-3e71-4748-8ebc-8eaadf79342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Office Theme</Template>
  <TotalTime>1160</TotalTime>
  <Words>282</Words>
  <Application>Microsoft Office PowerPoint</Application>
  <PresentationFormat>Widescreen</PresentationFormat>
  <Paragraphs>42</Paragraphs>
  <Slides>5</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vt:i4>
      </vt:variant>
    </vt:vector>
  </HeadingPairs>
  <TitlesOfParts>
    <vt:vector size="11" baseType="lpstr">
      <vt:lpstr>Anthropic Sans</vt:lpstr>
      <vt:lpstr>Arial</vt:lpstr>
      <vt:lpstr>Calibri</vt:lpstr>
      <vt:lpstr>Lato</vt:lpstr>
      <vt:lpstr>Times New Roman</vt:lpstr>
      <vt:lpstr>1_Office Theme</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 FUNDMENTALS OF ORGANIZATIONAL BEHAVIOUR</dc:title>
  <dc:creator>Younus Sayyad</dc:creator>
  <cp:lastModifiedBy>Dharani dhar T</cp:lastModifiedBy>
  <cp:revision>111</cp:revision>
  <dcterms:created xsi:type="dcterms:W3CDTF">2020-02-08T09:57:44Z</dcterms:created>
  <dcterms:modified xsi:type="dcterms:W3CDTF">2026-06-16T05:15:50Z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0x010100845058B0D91A7444BDF69F20EF097C18</vt:lpwstr>
  </property>
</Properties>
</file>